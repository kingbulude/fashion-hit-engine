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icrosoft YaHei"/>
              </a:rPr>
              <a:t>Fashion Hit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100584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0">
                <a:solidFill>
                  <a:srgbClr val="00BFA5"/>
                </a:solidFill>
                <a:latin typeface="Microsoft YaHei"/>
              </a:rPr>
              <a:t>服装爆款预测通用引擎 · 项目汇报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9144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0">
                <a:solidFill>
                  <a:srgbClr val="E5E7EB"/>
                </a:solidFill>
                <a:latin typeface="Microsoft YaHei"/>
              </a:rPr>
              <a:t>—— 以 MIPO 蜜扑童装户外品牌为例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846320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1440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5E7EB"/>
                </a:solidFill>
                <a:latin typeface="Microsoft YaHei"/>
              </a:rPr>
              <a:t>通用 CORE 引擎 × 品牌适配包 × 3Loop 自优化内核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9CA3AF"/>
                </a:solidFill>
                <a:latin typeface="Microsoft YaHei"/>
              </a:rPr>
              <a:t>让选款从「拍脑袋」变成「有数据的消费者投票」</a:t>
            </a:r>
          </a:p>
          <a:p>
            <a:pPr algn="l">
              <a:spcBef>
                <a:spcPts val="2000"/>
              </a:spcBef>
              <a:spcAft>
                <a:spcPts val="0"/>
              </a:spcAft>
            </a:pPr>
            <a:r>
              <a:rPr sz="1400" b="0">
                <a:solidFill>
                  <a:srgbClr val="9CA3AF"/>
                </a:solidFill>
                <a:latin typeface="Microsoft YaHei"/>
              </a:rPr>
              <a:t>2026 Spring ·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5486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目录 ·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6304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011680"/>
            <a:ext cx="5120640" cy="128016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109728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2563EB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19456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为什么做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697480"/>
            <a:ext cx="38404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Microsoft YaHei"/>
              </a:rPr>
              <a:t>服装行业选款痛点 &amp; MIPO 的具体问题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011680"/>
            <a:ext cx="5120640" cy="128016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148840"/>
            <a:ext cx="109728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00BFA5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9456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核心思路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97480"/>
            <a:ext cx="38404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Microsoft YaHei"/>
              </a:rPr>
              <a:t>模拟品牌典型消费者 · 三层决策模型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474720"/>
            <a:ext cx="5120640" cy="128016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611880"/>
            <a:ext cx="109728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FF8C42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65760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系统架构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160520"/>
            <a:ext cx="38404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Microsoft YaHei"/>
              </a:rPr>
              <a:t>通用 CORE 引擎 + 品牌适配包 + 3Loop 内核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474720"/>
            <a:ext cx="5120640" cy="128016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611880"/>
            <a:ext cx="109728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A78BF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65760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MIPO 实例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160520"/>
            <a:ext cx="38404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Microsoft YaHei"/>
              </a:rPr>
              <a:t>30 人设 / 10 特征 / 双渠道 / S·A·P 分级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4937760"/>
            <a:ext cx="5120640" cy="128016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074920"/>
            <a:ext cx="109728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10B981"/>
                </a:solidFill>
                <a:latin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12064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效果验证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623560"/>
            <a:ext cx="38404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Microsoft YaHei"/>
              </a:rPr>
              <a:t>分级准确率 · 改款建议 · 残差发现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937760"/>
            <a:ext cx="5120640" cy="128016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5074920"/>
            <a:ext cx="109728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3B82F6"/>
                </a:solidFill>
                <a:latin typeface="Microsoft YaHe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120640"/>
            <a:ext cx="3657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产品形态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623560"/>
            <a:ext cx="38404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Microsoft YaHei"/>
              </a:rPr>
              <a:t>Web UI 四页闭环 · 一键启动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9728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BFA5"/>
                </a:solidFill>
                <a:latin typeface="Microsoft YaHei"/>
              </a:rPr>
              <a:t>Part 01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Microsoft YaHei"/>
              </a:rPr>
              <a:t>为什么做这个系统</a:t>
            </a:r>
          </a:p>
          <a:p>
            <a:pPr algn="l">
              <a:spcBef>
                <a:spcPts val="2000"/>
              </a:spcBef>
              <a:spcAft>
                <a:spcPts val="0"/>
              </a:spcAft>
            </a:pPr>
            <a:r>
              <a:rPr sz="2200" b="0">
                <a:solidFill>
                  <a:srgbClr val="E5E7EB"/>
                </a:solidFill>
                <a:latin typeface="Microsoft YaHei"/>
              </a:rPr>
              <a:t>服装行业选款的真实痛点 &amp; MIPO 面对的具体问题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754880"/>
            <a:ext cx="1828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9144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Microsoft YaHei"/>
              </a:rPr>
              <a:t>选款从「拍脑袋赌运气」到「有数据的消费者投票」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服装选款的 4 个真痛点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25880"/>
            <a:ext cx="9144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Microsoft YaHei"/>
              </a:rPr>
              <a:t>—— 传统经验决策在今天越来越难跑通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11680"/>
            <a:ext cx="5120640" cy="18288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01168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914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0">
                <a:solidFill>
                  <a:srgbClr val="2563EB"/>
                </a:solidFill>
                <a:latin typeface="Microsoft YaHei"/>
              </a:rPr>
              <a:t>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240280"/>
            <a:ext cx="38404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靠经验拍款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880360"/>
            <a:ext cx="384048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E5E7EB"/>
                </a:solidFill>
                <a:latin typeface="Microsoft YaHei"/>
              </a:rPr>
              <a:t>设计师/买手凭个人审美选款，好坏取决于经验和「手感」，新人试错成本高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011680"/>
            <a:ext cx="5120640" cy="18288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2011680"/>
            <a:ext cx="73152" cy="18288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194560"/>
            <a:ext cx="914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0">
                <a:solidFill>
                  <a:srgbClr val="FF8C42"/>
                </a:solidFill>
                <a:latin typeface="Microsoft YaHe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240280"/>
            <a:ext cx="38404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数据链路断裂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880360"/>
            <a:ext cx="384048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E5E7EB"/>
                </a:solidFill>
                <a:latin typeface="Microsoft YaHei"/>
              </a:rPr>
              <a:t>销量数据和款式特征脱节，不知道「为什么卖/为什么卖不动」，没法系统性改进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206240"/>
            <a:ext cx="5120640" cy="18288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4206240"/>
            <a:ext cx="73152" cy="1828800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389120"/>
            <a:ext cx="914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0">
                <a:solidFill>
                  <a:srgbClr val="00BFA5"/>
                </a:solidFill>
                <a:latin typeface="Microsoft YaHei"/>
              </a:rP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434840"/>
            <a:ext cx="38404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选不准受众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5074920"/>
            <a:ext cx="384048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E5E7EB"/>
                </a:solidFill>
                <a:latin typeface="Microsoft YaHei"/>
              </a:rPr>
              <a:t>品牌客群是画像不是真人，选款不知道「到底是谁在买、为什么买」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206240"/>
            <a:ext cx="5120640" cy="18288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206240"/>
            <a:ext cx="73152" cy="18288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4389120"/>
            <a:ext cx="914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0">
                <a:solidFill>
                  <a:srgbClr val="A78BFA"/>
                </a:solidFill>
                <a:latin typeface="Microsoft YaHei"/>
              </a:rPr>
              <a:t>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434840"/>
            <a:ext cx="38404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每年重新来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074920"/>
            <a:ext cx="384048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E5E7EB"/>
                </a:solidFill>
                <a:latin typeface="Microsoft YaHei"/>
              </a:rPr>
              <a:t>今年积累的经验到明年换设计师就清零，没有可复用、可校准的「数字资产」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1440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MIPO 蜜扑 — 童装户外的「双重难点」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5029200" cy="475488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920240"/>
            <a:ext cx="457200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CA3AF"/>
                </a:solidFill>
                <a:latin typeface="Microsoft YaHei"/>
              </a:rPr>
              <a:t>🏷 品牌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MIPO 蜜扑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6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CA3AF"/>
                </a:solidFill>
                <a:latin typeface="Microsoft YaHei"/>
              </a:rPr>
              <a:t>🎯 定位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0">
                <a:solidFill>
                  <a:srgbClr val="E5E7EB"/>
                </a:solidFill>
                <a:latin typeface="Microsoft YaHei"/>
              </a:rPr>
              <a:t>潮童户外 · 时尚感 + 轻机能 + 日常穿着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6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CA3AF"/>
                </a:solidFill>
                <a:latin typeface="Microsoft YaHei"/>
              </a:rPr>
              <a:t>👶 客群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0">
                <a:solidFill>
                  <a:srgbClr val="E5E7EB"/>
                </a:solidFill>
                <a:latin typeface="Microsoft YaHei"/>
              </a:rPr>
              <a:t>6-18 岁中大童 · 尺码 110-180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6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CA3AF"/>
                </a:solidFill>
                <a:latin typeface="Microsoft YaHei"/>
              </a:rPr>
              <a:t>🛍 双渠道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0">
                <a:solidFill>
                  <a:srgbClr val="E5E7EB"/>
                </a:solidFill>
                <a:latin typeface="Microsoft YaHei"/>
              </a:rPr>
              <a:t>自然流量（天猫搜索） + 抖音直播带货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6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CA3AF"/>
                </a:solidFill>
                <a:latin typeface="Microsoft YaHei"/>
              </a:rPr>
              <a:t>👥 双层决策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 b="0">
                <a:solidFill>
                  <a:srgbClr val="E5E7EB"/>
                </a:solidFill>
                <a:latin typeface="Microsoft YaHei"/>
              </a:rPr>
              <a:t>妈妈出钱拍板（55%） + 孩子能一票否决（45%）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50292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FF8C42"/>
                </a:solidFill>
                <a:latin typeface="Microsoft YaHei"/>
              </a:rPr>
              <a:t>两个让传统方法彻底失效的问题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377440"/>
            <a:ext cx="5029200" cy="18288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237744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514600"/>
            <a:ext cx="1828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Microsoft YaHei"/>
              </a:rPr>
              <a:t>问题一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971800"/>
            <a:ext cx="45720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E5E7EB"/>
                </a:solidFill>
                <a:latin typeface="Microsoft YaHei"/>
              </a:rPr>
              <a:t>妈妈觉得「这个衣服耐脏好洗」
但孩子觉得「颜色太暗像校服」 → 一票否决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4480560"/>
            <a:ext cx="5029200" cy="18288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4480560"/>
            <a:ext cx="73152" cy="18288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617720"/>
            <a:ext cx="1828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8C42"/>
                </a:solidFill>
                <a:latin typeface="Microsoft YaHei"/>
              </a:rPr>
              <a:t>问题二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074920"/>
            <a:ext cx="45720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E5E7EB"/>
                </a:solidFill>
                <a:latin typeface="Microsoft YaHei"/>
              </a:rPr>
              <a:t>直播间里拼色撞色款（F03 高）
3 秒停留超高，妈妈冲动下单
到货后男孩嫌太花不肯穿 → 退货率飙升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9728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563EB"/>
                </a:solidFill>
                <a:latin typeface="Microsoft YaHei"/>
              </a:rPr>
              <a:t>Part 02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Microsoft YaHei"/>
              </a:rPr>
              <a:t>核心思路</a:t>
            </a:r>
          </a:p>
          <a:p>
            <a:pPr algn="l">
              <a:spcBef>
                <a:spcPts val="2000"/>
              </a:spcBef>
              <a:spcAft>
                <a:spcPts val="0"/>
              </a:spcAft>
            </a:pPr>
            <a:r>
              <a:rPr sz="2200" b="0">
                <a:solidFill>
                  <a:srgbClr val="E5E7EB"/>
                </a:solidFill>
                <a:latin typeface="Microsoft YaHei"/>
              </a:rPr>
              <a:t>模拟你品牌的典型消费者 · 让他们面对款式「投票」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754880"/>
            <a:ext cx="1828800" cy="54864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一句话原理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0">
                <a:solidFill>
                  <a:srgbClr val="00BFA5"/>
                </a:solidFill>
                <a:latin typeface="Microsoft YaHei"/>
              </a:rPr>
              <a:t>「调出 30 个你的典型消费者 → 让他们看图 → 判断「我会不会买」→ 投票聚合」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103120"/>
            <a:ext cx="10058400" cy="27432"/>
          </a:xfrm>
          <a:prstGeom prst="rect">
            <a:avLst/>
          </a:prstGeom>
          <a:solidFill>
            <a:srgbClr val="3A4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10058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消费者购买决策的三层模型 — 三个系统并行打分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108960"/>
            <a:ext cx="3383280" cy="329184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310896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337560"/>
            <a:ext cx="7315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2563EB"/>
                </a:solidFill>
                <a:latin typeface="Microsoft YaHei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93192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身份表达层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343400"/>
            <a:ext cx="3017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Microsoft YaHei"/>
              </a:rPr>
              <a:t>System 2 · 理性判断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709160"/>
            <a:ext cx="30175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30 人设投票
每个人有明确的场景/审美/价格偏好
独立看图打分 + 说明不买的理由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5897880"/>
            <a:ext cx="2926080" cy="3200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925312"/>
            <a:ext cx="2834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1A1F36"/>
                </a:solidFill>
                <a:latin typeface="Microsoft YaHei"/>
              </a:rPr>
              <a:t>人设 → 买不买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108960"/>
            <a:ext cx="3383280" cy="329184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3108960"/>
            <a:ext cx="3383280" cy="73152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3337560"/>
            <a:ext cx="7315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00BFA5"/>
                </a:solidFill>
                <a:latin typeface="Microsoft YaHei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93192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视觉观感层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4343400"/>
            <a:ext cx="3017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Microsoft YaHei"/>
              </a:rPr>
              <a:t>System 1 · 快速反应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709160"/>
            <a:ext cx="30175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VLM 视觉大模型输出 10 特征 BARS 评分
廓形/利落/色彩/功能/上镜/实穿/搭配/面料/调性/独特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5897880"/>
            <a:ext cx="2926080" cy="320040"/>
          </a:xfrm>
          <a:prstGeom prst="round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5925312"/>
            <a:ext cx="2834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1A1F36"/>
                </a:solidFill>
                <a:latin typeface="Microsoft YaHei"/>
              </a:rPr>
              <a:t>图片 → 结构化特征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108960"/>
            <a:ext cx="3383280" cy="329184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12480" y="3108960"/>
            <a:ext cx="3383280" cy="7315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3337560"/>
            <a:ext cx="7315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FF8C42"/>
                </a:solidFill>
                <a:latin typeface="Microsoft YaHei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93192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价值评估层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343400"/>
            <a:ext cx="3017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Microsoft YaHei"/>
              </a:rPr>
              <a:t>System 2 · 理性算账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709160"/>
            <a:ext cx="30175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感知价值 vs 价格在品类中的百分位
值不值这个价？有没有被收割智商税？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41080" y="5897880"/>
            <a:ext cx="2926080" cy="32004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5925312"/>
            <a:ext cx="2834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1A1F36"/>
                </a:solidFill>
                <a:latin typeface="Microsoft YaHei"/>
              </a:rPr>
              <a:t>价签 → 值不值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6537960"/>
            <a:ext cx="10058400" cy="27432"/>
          </a:xfrm>
          <a:prstGeom prst="rect">
            <a:avLst/>
          </a:prstGeom>
          <a:solidFill>
            <a:srgbClr val="3A4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6583680"/>
            <a:ext cx="10058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9CA3AF"/>
                </a:solidFill>
                <a:latin typeface="Microsoft YaHei"/>
              </a:rPr>
              <a:t>综合分 = 0.35 × 人设投票 + 0.30 × 双渠道分 + 0.35 × 价值匹配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9728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8C42"/>
                </a:solidFill>
                <a:latin typeface="Microsoft YaHei"/>
              </a:rPr>
              <a:t>Part 03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Microsoft YaHei"/>
              </a:rPr>
              <a:t>系统架构</a:t>
            </a:r>
          </a:p>
          <a:p>
            <a:pPr algn="l">
              <a:spcBef>
                <a:spcPts val="2000"/>
              </a:spcBef>
              <a:spcAft>
                <a:spcPts val="0"/>
              </a:spcAft>
            </a:pPr>
            <a:r>
              <a:rPr sz="2200" b="0">
                <a:solidFill>
                  <a:srgbClr val="E5E7EB"/>
                </a:solidFill>
                <a:latin typeface="Microsoft YaHei"/>
              </a:rPr>
              <a:t>通用 CORE 引擎 × 品牌适配包 × 3Loop 自优化内核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754880"/>
            <a:ext cx="182880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三大核心能力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10058400" cy="164592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371600"/>
            <a:ext cx="91440" cy="1645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Microsoft YaHei"/>
              </a:rPr>
              <a:t>能力一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5486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通用 CORE 引擎 · 跨品牌 100% 复用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594360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三大异构引擎（人设投票 / VLM 特征 / 价值评估）并行
错误来源互相独立，一个引擎错了另外两个还能兜住
换品类（童装→女装→快消）代码一行不动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691640"/>
            <a:ext cx="960120" cy="10058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783080"/>
            <a:ext cx="9601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1A1F36"/>
                </a:solidFill>
                <a:latin typeface="Microsoft YaHei"/>
              </a:rPr>
              <a:t>引擎一：30 人设投票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691640"/>
            <a:ext cx="960120" cy="10058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783080"/>
            <a:ext cx="9601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1A1F36"/>
                </a:solidFill>
                <a:latin typeface="Microsoft YaHei"/>
              </a:rPr>
              <a:t>引擎二：VLM + BARS 量表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1691640"/>
            <a:ext cx="960120" cy="10058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1783080"/>
            <a:ext cx="9601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1A1F36"/>
                </a:solidFill>
                <a:latin typeface="Microsoft YaHei"/>
              </a:rPr>
              <a:t>引擎三：价值匹配模型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200400"/>
            <a:ext cx="10058400" cy="164592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3200400"/>
            <a:ext cx="91440" cy="1645920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10128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0BFA5"/>
                </a:solidFill>
                <a:latin typeface="Microsoft YaHei"/>
              </a:rPr>
              <a:t>能力二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611880"/>
            <a:ext cx="5486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品牌适配包 · 换品牌 = 换 YAML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69080"/>
            <a:ext cx="594360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5 个 YAML 文件承载品牌全部差异
人设 / BARS 锚定量表 / 品类价格带 / 分级阈值 / 决策层
不需要改 Python 代码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3520440"/>
            <a:ext cx="960120" cy="1005840"/>
          </a:xfrm>
          <a:prstGeom prst="round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3611880"/>
            <a:ext cx="9601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1A1F36"/>
                </a:solidFill>
                <a:latin typeface="Microsoft YaHei"/>
              </a:rPr>
              <a:t>personas.yaml   30 人设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3520440"/>
            <a:ext cx="960120" cy="1005840"/>
          </a:xfrm>
          <a:prstGeom prst="round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3611880"/>
            <a:ext cx="9601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1A1F36"/>
                </a:solidFill>
                <a:latin typeface="Microsoft YaHei"/>
              </a:rPr>
              <a:t>features_bars.yaml   10 特征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3520440"/>
            <a:ext cx="960120" cy="1005840"/>
          </a:xfrm>
          <a:prstGeom prst="round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3611880"/>
            <a:ext cx="9601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1A1F36"/>
                </a:solidFill>
                <a:latin typeface="Microsoft YaHei"/>
              </a:rPr>
              <a:t>scoring_weights.yaml   公式+阈值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029200"/>
            <a:ext cx="10058400" cy="164592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5029200"/>
            <a:ext cx="91440" cy="164592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5138928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FF8C42"/>
                </a:solidFill>
                <a:latin typeface="Microsoft YaHei"/>
              </a:rPr>
              <a:t>能力三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440680"/>
            <a:ext cx="5486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3Loop 优化内核 · 越用越准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897880"/>
            <a:ext cx="594360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每季销售结束后喂入真实销量
Loop1 校准 VLM 特征偏置
Loop2 Lasso 拟合真实人设分布
Loop3 调三大引擎 + 双渠道权重
Spearman 单调不减（不达标自动回滚）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5349240"/>
            <a:ext cx="960120" cy="100584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5440680"/>
            <a:ext cx="9601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1A1F36"/>
                </a:solidFill>
                <a:latin typeface="Microsoft YaHei"/>
              </a:rPr>
              <a:t>Loop1 特征偏置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5349240"/>
            <a:ext cx="960120" cy="100584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5440680"/>
            <a:ext cx="9601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1A1F36"/>
                </a:solidFill>
                <a:latin typeface="Microsoft YaHei"/>
              </a:rPr>
              <a:t>Loop2 人设权重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20" y="5349240"/>
            <a:ext cx="960120" cy="100584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0" y="5440680"/>
            <a:ext cx="9601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1A1F36"/>
                </a:solidFill>
                <a:latin typeface="Microsoft YaHei"/>
              </a:rPr>
              <a:t>Loop3 引擎权重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品牌适配包 Brand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Microsoft YaHei"/>
              </a:rPr>
              <a:t>5 个 YAML 文件 = 一个品牌的全部领域知识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5029200" cy="4572000"/>
          </a:xfrm>
          <a:prstGeom prst="roundRect">
            <a:avLst/>
          </a:prstGeom>
          <a:solidFill>
            <a:srgbClr val="141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00BFA5"/>
                </a:solidFill>
                <a:latin typeface="Consolas"/>
              </a:rPr>
              <a:t>brand_profiles/
└── mipo/                    ← MIPO 蜜扑品牌包
    ├── profile.yaml          决策层结构（妈妈+孩子）
    ├── personas.yaml         30 人设 + 身份三轴线
    ├── features_bars.yaml    10 特征 BARS 锚定量表
    ├── scoring_weights.yaml  评分公式 + S/A/P 阈值
    ├── category_registry.yaml 品类 + 价格带
    └── calibrated/           3Loop 校准产物（自动生成）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22860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YaHei"/>
              </a:rPr>
              <a:t>profile.yaml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828800"/>
            <a:ext cx="27432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决策结构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40280"/>
            <a:ext cx="5029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单层/多层决策结构声明
MIPO = 妈妈决策者层(55%)
      + 孩子影响层(45%)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26080"/>
            <a:ext cx="22860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YaHei"/>
              </a:rPr>
              <a:t>personas.yaml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926080"/>
            <a:ext cx="27432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30 人设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337560"/>
            <a:ext cx="5029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场景 × 审美 × 价格 = 5×3×2
每个人有 FAB 关注点 + 否决红线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22860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YaHei"/>
              </a:rPr>
              <a:t>features_bars.yaml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023360"/>
            <a:ext cx="27432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10 特征 BARS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434840"/>
            <a:ext cx="5029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每个特征 5 档行为锚定
明确定义「什么是 MIPO 的好款」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120640"/>
            <a:ext cx="22860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YaHei"/>
              </a:rPr>
              <a:t>scoring_weights.yaml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5120640"/>
            <a:ext cx="27432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评分公式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532120"/>
            <a:ext cx="5029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自然流量 / 直播带货 / 价值匹配
S·A+·A·P·风险 五级阈值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3Loop 优化内核 — 越用越准的引擎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Microsoft YaHei"/>
              </a:rPr>
              <a:t>每季销售结束后喂入真实销量 → 自动校准 → Spearman 单调递增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920240"/>
            <a:ext cx="3383280" cy="41148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920240"/>
            <a:ext cx="3383280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48840"/>
            <a:ext cx="1828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Microsoft YaHei"/>
              </a:rPr>
              <a:t>Loop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校准 VLM 特征偏置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108960"/>
            <a:ext cx="301752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统计每个 VLM 特征与真实销量的 Spearman ρ
除以平均 ρ 得到偏置系数
clamp 到 [0.7, 1.3] 区间防止过度放大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4937760"/>
            <a:ext cx="2926080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937760"/>
            <a:ext cx="28346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Microsoft YaHei"/>
              </a:rPr>
              <a:t>F01 廓形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5193792"/>
            <a:ext cx="2926080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193792"/>
            <a:ext cx="28346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Microsoft YaHei"/>
              </a:rPr>
              <a:t>F03 色彩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5449824"/>
            <a:ext cx="2926080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449824"/>
            <a:ext cx="28346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Microsoft YaHei"/>
              </a:rPr>
              <a:t>F05 上镜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5705855"/>
            <a:ext cx="2926080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705855"/>
            <a:ext cx="28346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Microsoft YaHei"/>
              </a:rPr>
              <a:t>F06 实穿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5961888"/>
            <a:ext cx="2926080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961888"/>
            <a:ext cx="28346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Microsoft YaHei"/>
              </a:rPr>
              <a:t>F09 调性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920240"/>
            <a:ext cx="3383280" cy="41148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1920240"/>
            <a:ext cx="3383280" cy="91440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2148840"/>
            <a:ext cx="1828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>
                <a:solidFill>
                  <a:srgbClr val="00BFA5"/>
                </a:solidFill>
                <a:latin typeface="Microsoft YaHei"/>
              </a:rPr>
              <a:t>Loop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65176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Lasso 拟合人设权重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108960"/>
            <a:ext cx="301752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L1 正则化回归从真实销量反推 30 人设真实权重
稀疏性保证只有真正有区分力的人设被调高
避免过拟合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4937760"/>
            <a:ext cx="2926080" cy="228600"/>
          </a:xfrm>
          <a:prstGeom prst="round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937760"/>
            <a:ext cx="28346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Microsoft YaHei"/>
              </a:rPr>
              <a:t>P01 上学实用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5193792"/>
            <a:ext cx="2926080" cy="228600"/>
          </a:xfrm>
          <a:prstGeom prst="round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5193792"/>
            <a:ext cx="28346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Microsoft YaHei"/>
              </a:rPr>
              <a:t>P03 山系亮色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3480" y="5449824"/>
            <a:ext cx="2926080" cy="228600"/>
          </a:xfrm>
          <a:prstGeom prst="round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5449824"/>
            <a:ext cx="28346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Microsoft YaHei"/>
              </a:rPr>
              <a:t>P07 周末实用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83480" y="5705855"/>
            <a:ext cx="2926080" cy="228600"/>
          </a:xfrm>
          <a:prstGeom prst="round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5705855"/>
            <a:ext cx="28346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Microsoft YaHei"/>
              </a:rPr>
              <a:t>P19 直播间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1920240"/>
            <a:ext cx="3383280" cy="41148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12480" y="1920240"/>
            <a:ext cx="3383280" cy="9144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80" y="2148840"/>
            <a:ext cx="1828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>
                <a:solidFill>
                  <a:srgbClr val="FF8C42"/>
                </a:solidFill>
                <a:latin typeface="Microsoft YaHei"/>
              </a:rPr>
              <a:t>Loop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265176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调引擎 + 渠道权重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3108960"/>
            <a:ext cx="301752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权重 ∝ max(0.05, ρ + 0.3) 归一化
保证每个引擎最少 5% 话语权
防止某引擎被完全压制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41080" y="4937760"/>
            <a:ext cx="2926080" cy="2286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937760"/>
            <a:ext cx="28346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Microsoft YaHei"/>
              </a:rPr>
              <a:t>人设 0.35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41080" y="5193792"/>
            <a:ext cx="2926080" cy="2286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5193792"/>
            <a:ext cx="28346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Microsoft YaHei"/>
              </a:rPr>
              <a:t>渠道 0.30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41080" y="5449824"/>
            <a:ext cx="2926080" cy="2286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5449824"/>
            <a:ext cx="283464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Microsoft YaHei"/>
              </a:rPr>
              <a:t>价值 0.35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97280" y="6217920"/>
            <a:ext cx="1005840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88720" y="6245352"/>
            <a:ext cx="98755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🛡 保护机制：每步 Loop 后必须满足「新 Spearman ≥ 旧 Spearman + MIN_IMPROVEMENT」，否则自动回滚。Spearman 单调不减，永不越调越差。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9728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78BFA"/>
                </a:solidFill>
                <a:latin typeface="Microsoft YaHei"/>
              </a:rPr>
              <a:t>Part 04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Microsoft YaHei"/>
              </a:rPr>
              <a:t>MIPO 实例详解</a:t>
            </a:r>
          </a:p>
          <a:p>
            <a:pPr algn="l">
              <a:spcBef>
                <a:spcPts val="2000"/>
              </a:spcBef>
              <a:spcAft>
                <a:spcPts val="0"/>
              </a:spcAft>
            </a:pPr>
            <a:r>
              <a:rPr sz="2200" b="0">
                <a:solidFill>
                  <a:srgbClr val="E5E7EB"/>
                </a:solidFill>
                <a:latin typeface="Microsoft YaHei"/>
              </a:rPr>
              <a:t>30 人设 / 10 特征 BARS / 双渠道评分 / S·A+·A·P 分级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754880"/>
            <a:ext cx="1828800" cy="54864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30 人设 — 怎么定义 MIPO 的典型消费者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Microsoft YaHei"/>
              </a:rPr>
              <a:t>身份三轴线交叉 → 5 × 3 × 2 = 30 种典型消费者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3383280" cy="32004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01168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轴线 A · 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560320"/>
            <a:ext cx="3017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• 上学日常 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017520"/>
            <a:ext cx="3017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• 周末家庭出游 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74720"/>
            <a:ext cx="3017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• 露营/户外课程 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931920"/>
            <a:ext cx="3017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• 抖音直播种草 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389120"/>
            <a:ext cx="3017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• 体育课/运动 15%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828800"/>
            <a:ext cx="3383280" cy="32004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1828800"/>
            <a:ext cx="3383280" cy="73152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201168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轴线 B · 审美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560320"/>
            <a:ext cx="3017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• 实用耐脏型 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017520"/>
            <a:ext cx="3017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• 山系多巴胺亮色 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474720"/>
            <a:ext cx="3017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• 日系机能潮酷 25%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1828800"/>
            <a:ext cx="3383280" cy="32004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1828800"/>
            <a:ext cx="3383280" cy="7315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201168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轴线 C · 价格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560320"/>
            <a:ext cx="3017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• 刚需性价比 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017520"/>
            <a:ext cx="3017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• 功能品质溢价 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0352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人设长什么样？举三个例子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5760720"/>
            <a:ext cx="3383280" cy="9144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7280" y="576072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5833872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YaHei"/>
              </a:rPr>
              <a:t>P01 实用性价比·上学娃妈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126480"/>
            <a:ext cx="3017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Microsoft YaHei"/>
              </a:rPr>
              <a:t>上学 + 实用耐脏 + 刚需性价比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5760720"/>
            <a:ext cx="3383280" cy="9144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5760720"/>
            <a:ext cx="73152" cy="914400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5833872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00BFA5"/>
                </a:solidFill>
                <a:latin typeface="Microsoft YaHei"/>
              </a:rPr>
              <a:t>P03 山系亮色性价比·上学娃妈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6126480"/>
            <a:ext cx="3017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Microsoft YaHei"/>
              </a:rPr>
              <a:t>上学 + 山系亮色 + 刚需性价比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5760720"/>
            <a:ext cx="3383280" cy="9144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12480" y="5760720"/>
            <a:ext cx="73152" cy="9144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80" y="5833872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Microsoft YaHei"/>
              </a:rPr>
              <a:t>P24 机能品质·直播间宝妈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6126480"/>
            <a:ext cx="3017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Microsoft YaHei"/>
              </a:rPr>
              <a:t>直播间 + 日系机能 + 品质溢价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10 特征 BARS · 让 VLM 像质检员一样结构化打分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Microsoft YaHei"/>
              </a:rPr>
              <a:t>每个特征 1-10 分，每 2 分一档有明确的行为锚定描述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3383280" cy="41148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011680"/>
            <a:ext cx="30175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Microsoft YaHei"/>
              </a:rPr>
              <a:t>物理类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560320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F01 廓形度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Microsoft YaHei"/>
              </a:rPr>
              <a:t>超紧贴身 → 超宽廓形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337560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F02 利落感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657600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Microsoft YaHei"/>
              </a:rPr>
              <a:t>视觉混乱 → 极利落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114800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F03 色彩风险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434840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Microsoft YaHei"/>
              </a:rPr>
              <a:t>安全基础色 → 极强视觉冲击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892039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F04 功能可见性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212079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Microsoft YaHei"/>
              </a:rPr>
              <a:t>无功能元素 → 硬核功能外显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828800"/>
            <a:ext cx="3383280" cy="41148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1828800"/>
            <a:ext cx="3383280" cy="73152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011680"/>
            <a:ext cx="30175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0BFA5"/>
                </a:solidFill>
                <a:latin typeface="Microsoft YaHei"/>
              </a:rPr>
              <a:t>感知类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560320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F05 上镜感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880360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Microsoft YaHei"/>
              </a:rPr>
              <a:t>画面平淡 → 极强镜头冲击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337560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F06 实穿度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657600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Microsoft YaHei"/>
              </a:rPr>
              <a:t>场景极窄 → 全场景百搭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114800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F07 搭配度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434840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Microsoft YaHei"/>
              </a:rPr>
              <a:t>极挑搭配 → 百搭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892039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F08 面料感知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5212079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Microsoft YaHei"/>
              </a:rPr>
              <a:t>廉价无质感 → 高级功能质感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1828800"/>
            <a:ext cx="3383280" cy="41148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12480" y="1828800"/>
            <a:ext cx="3383280" cy="7315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2011680"/>
            <a:ext cx="30175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8C42"/>
                </a:solidFill>
                <a:latin typeface="Microsoft YaHei"/>
              </a:rPr>
              <a:t>品牌类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2560320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F09 品牌调性贡献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2880360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Microsoft YaHei"/>
              </a:rPr>
              <a:t>偏离定位 → 调性标杆款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3337560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F10 设计独特性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3657600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Microsoft YaHei"/>
              </a:rPr>
              <a:t>完全跟款 → 极罕见设计语言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6217920"/>
            <a:ext cx="10058400" cy="4572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6236208"/>
            <a:ext cx="98755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⚡ 关键锚定：F09 高调性 / F10 高独特性 ≠ 高销量。它们是品牌展示款（P 款）的典型特征，真正的 S 款是 F06 实穿度高 + F07 搭配度高 + F03 色彩风险低。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双渠道评分 · 自然流量 vs 直播带货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Microsoft YaHei"/>
              </a:rPr>
              <a:t>不同渠道的好款特征完全不同 — 用两套公式分别计算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5120640" cy="45720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>
                <a:solidFill>
                  <a:srgbClr val="2563EB"/>
                </a:solidFill>
                <a:latin typeface="Microsoft YaHei"/>
              </a:rPr>
              <a:t>自然流量分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4572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Microsoft YaHei"/>
              </a:rPr>
              <a:t>天猫/淘宝搜索、收藏加购、复购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8036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E5E7EB"/>
                </a:solidFill>
                <a:latin typeface="Microsoft YaHei"/>
              </a:rPr>
              <a:t>妈妈「解决需求」型购买：实穿 + 好搭 + 不挑色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2286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F06 实穿度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3547872"/>
            <a:ext cx="1828800" cy="228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347472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Microsoft YaHei"/>
              </a:rPr>
              <a:t>0.40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06240"/>
            <a:ext cx="2286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F07 搭配度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4279392"/>
            <a:ext cx="1371600" cy="228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420624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Microsoft YaHei"/>
              </a:rPr>
              <a:t>0.30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37760"/>
            <a:ext cx="2286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(10-F03) 色彩安全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5010912"/>
            <a:ext cx="1371600" cy="228600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493776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00BFA5"/>
                </a:solidFill>
                <a:latin typeface="Microsoft YaHei"/>
              </a:rPr>
              <a:t>0.30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760720"/>
            <a:ext cx="457200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5779008"/>
            <a:ext cx="44805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1A1F36"/>
                </a:solidFill>
                <a:latin typeface="Microsoft YaHei"/>
              </a:rPr>
              <a:t>score = 0.40×F06 + 0.30×F07 + 0.30×(10-F03)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828800"/>
            <a:ext cx="5120640" cy="45720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1828800"/>
            <a:ext cx="5120640" cy="73152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01168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600" b="1">
                <a:solidFill>
                  <a:srgbClr val="00BFA5"/>
                </a:solidFill>
                <a:latin typeface="Microsoft YaHei"/>
              </a:rPr>
              <a:t>直播带货分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468880"/>
            <a:ext cx="4572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Microsoft YaHei"/>
              </a:rPr>
              <a:t>抖音/快手直播、达人短视频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88036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E5E7EB"/>
                </a:solidFill>
                <a:latin typeface="Microsoft YaHei"/>
              </a:rPr>
              <a:t>冲动转化：画面吸睛 → 有料可讲 → 记忆深刻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74720"/>
            <a:ext cx="2286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F05 上镜感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3547872"/>
            <a:ext cx="1828800" cy="228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64240" y="347472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Microsoft YaHei"/>
              </a:rPr>
              <a:t>0.40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206240"/>
            <a:ext cx="2286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F04 功能可见性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4279392"/>
            <a:ext cx="1828800" cy="2286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64240" y="420624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Microsoft YaHei"/>
              </a:rPr>
              <a:t>0.40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937760"/>
            <a:ext cx="2286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icrosoft YaHei"/>
              </a:rPr>
              <a:t>(10-F03) 色彩安全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5010912"/>
            <a:ext cx="914400" cy="228600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4937760"/>
            <a:ext cx="914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00BFA5"/>
                </a:solidFill>
                <a:latin typeface="Microsoft YaHei"/>
              </a:rPr>
              <a:t>0.20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5760720"/>
            <a:ext cx="4572000" cy="457200"/>
          </a:xfrm>
          <a:prstGeom prst="round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5779008"/>
            <a:ext cx="448056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1A1F36"/>
                </a:solidFill>
                <a:latin typeface="Microsoft YaHei"/>
              </a:rPr>
              <a:t>score = 0.40×F05 + 0.40×F04 + 0.20×(10-F03)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S / A+ / A / P 五级分级 — 怎么切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Microsoft YaHei"/>
              </a:rPr>
              <a:t>先识别「肯定好的 S 款」和「肯定弱的 P 款」，中间留 A+ / A 可调空间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5120640" cy="210312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109728" cy="2103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1371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10B981"/>
                </a:solidFill>
                <a:latin typeface="Microsoft YaHei"/>
              </a:rPr>
              <a:t>S 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03120"/>
            <a:ext cx="3200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🔥 必推爆款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88920"/>
            <a:ext cx="475488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自然分 ≥ 7.5 且 直播分 ≥ 7.0
反对率 ≤ 25%
价值匹配 ≥ 0（不溢价）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28800"/>
            <a:ext cx="5120640" cy="210312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828800"/>
            <a:ext cx="109728" cy="21031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965960"/>
            <a:ext cx="1371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3B82F6"/>
                </a:solidFill>
                <a:latin typeface="Microsoft YaHei"/>
              </a:rPr>
              <a:t>A+ 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200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💡 有爆款潜力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788920"/>
            <a:ext cx="475488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单维度 ≥ 7.5，另一维度 6.0-7.0
改一个短板就能冲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114800"/>
            <a:ext cx="5120640" cy="210312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4114800"/>
            <a:ext cx="109728" cy="21031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251960"/>
            <a:ext cx="1371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6366F1"/>
                </a:solidFill>
                <a:latin typeface="Microsoft YaHei"/>
              </a:rPr>
              <a:t>A 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389120"/>
            <a:ext cx="3200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✅ 安全常规款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74920"/>
            <a:ext cx="475488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单维度 ≥ 7.0
没硬伤也没爆点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114800"/>
            <a:ext cx="5120640" cy="210312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114800"/>
            <a:ext cx="109728" cy="21031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4251960"/>
            <a:ext cx="1371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EF4444"/>
                </a:solidFill>
                <a:latin typeface="Microsoft YaHei"/>
              </a:rPr>
              <a:t>P 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389120"/>
            <a:ext cx="3200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⚠️ 品牌展示款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074920"/>
            <a:ext cx="475488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(F03≥6 色彩风险高 AND F09≥7.5 高调性)
OR (F10≥7.5 高独特性 AND 双渠道弱)
设计好看但实际卖不动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9728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B981"/>
                </a:solidFill>
                <a:latin typeface="Microsoft YaHei"/>
              </a:rPr>
              <a:t>Part 05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Microsoft YaHei"/>
              </a:rPr>
              <a:t>效果验证</a:t>
            </a:r>
          </a:p>
          <a:p>
            <a:pPr algn="l">
              <a:spcBef>
                <a:spcPts val="2000"/>
              </a:spcBef>
              <a:spcAft>
                <a:spcPts val="0"/>
              </a:spcAft>
            </a:pPr>
            <a:r>
              <a:rPr sz="2200" b="0">
                <a:solidFill>
                  <a:srgbClr val="E5E7EB"/>
                </a:solidFill>
                <a:latin typeface="Microsoft YaHei"/>
              </a:rPr>
              <a:t>分级准确率 · 改款建议 · 残差发现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754880"/>
            <a:ext cx="1828800" cy="54864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跑过一批数据后能看什么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554480"/>
            <a:ext cx="2468880" cy="210312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554480"/>
            <a:ext cx="246888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69164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Microsoft YaHei"/>
              </a:rPr>
              <a:t>Spearman 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057400"/>
            <a:ext cx="219456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2563EB"/>
                </a:solidFill>
                <a:latin typeface="Microsoft YaHei"/>
              </a:rPr>
              <a:t>≥ 0.80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88920"/>
            <a:ext cx="219456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分级与真实销量的秩相关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554480"/>
            <a:ext cx="2468880" cy="210312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86200" y="1554480"/>
            <a:ext cx="2468880" cy="54864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169164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Microsoft YaHei"/>
              </a:rPr>
              <a:t>改款建议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057400"/>
            <a:ext cx="219456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00BFA5"/>
                </a:solidFill>
                <a:latin typeface="Microsoft YaHei"/>
              </a:rPr>
              <a:t>2-5 条/款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788920"/>
            <a:ext cx="219456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从 10 特征雷达图自动生成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931920"/>
            <a:ext cx="2468880" cy="210312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3931920"/>
            <a:ext cx="2468880" cy="54864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06908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Microsoft YaHei"/>
              </a:rPr>
              <a:t>残差发现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434840"/>
            <a:ext cx="219456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FF8C42"/>
                </a:solidFill>
                <a:latin typeface="Microsoft YaHei"/>
              </a:rPr>
              <a:t>ε &gt; 2σ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166360"/>
            <a:ext cx="219456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超预期款 + 不及预期款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3931920"/>
            <a:ext cx="2468880" cy="210312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393192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406908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Microsoft YaHei"/>
              </a:rPr>
              <a:t>校准后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434840"/>
            <a:ext cx="219456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10B981"/>
                </a:solidFill>
                <a:latin typeface="Microsoft YaHei"/>
              </a:rPr>
              <a:t>Spearman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5166360"/>
            <a:ext cx="219456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3Loop 单调提升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1554480"/>
            <a:ext cx="5029200" cy="45720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1737360"/>
            <a:ext cx="4572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🔧 改款建议示例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103120"/>
            <a:ext cx="4572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  <a:latin typeface="Microsoft YaHei"/>
              </a:rPr>
              <a:t>款号 S02 · P 级（设计好看但色彩太花）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2606040"/>
            <a:ext cx="73152" cy="320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2560320"/>
            <a:ext cx="4572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YaHei"/>
              </a:rPr>
              <a:t>降低 F03 色彩风险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880360"/>
            <a:ext cx="45720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Microsoft YaHei"/>
              </a:rPr>
              <a:t>主推色从高饱和撞色（F03=7）改为双色拼接（F03=4-5），保留视觉记忆点同时降低男孩「太花不肯穿」风险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3520440"/>
            <a:ext cx="73152" cy="320040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80" y="3474720"/>
            <a:ext cx="4572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00BFA5"/>
                </a:solidFill>
                <a:latin typeface="Microsoft YaHei"/>
              </a:rPr>
              <a:t>补强 F06 实穿度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3794760"/>
            <a:ext cx="45720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Microsoft YaHei"/>
              </a:rPr>
              <a:t>廓形稍收紧，从「只能户外」调整为「上学+户外双场景」，自然流量分可从 5.8 提至 7.0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4434840"/>
            <a:ext cx="73152" cy="32004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4389120"/>
            <a:ext cx="4572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FF8C42"/>
                </a:solidFill>
                <a:latin typeface="Microsoft YaHei"/>
              </a:rPr>
              <a:t>保留 F04 功能亮点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709160"/>
            <a:ext cx="45720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Microsoft YaHei"/>
              </a:rPr>
              <a:t>F04=8 是强项，直播时作为钩子话术重点演示「泼水不渗」，已有上镜感 F05=8 加持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5349240"/>
            <a:ext cx="73152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5303520"/>
            <a:ext cx="4572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Microsoft YaHei"/>
              </a:rPr>
              <a:t>价值匹配优化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5623560"/>
            <a:ext cx="457200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Microsoft YaHei"/>
              </a:rPr>
              <a:t>价格下调 15% 或增加一个实用小配件（如可拆卸帽檐），让 value_match 从 -0.20 拉到 0 以上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残差分离 — 系统说不准的那些款，恰恰是运营的金矿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9CA3AF"/>
                </a:solidFill>
                <a:latin typeface="Microsoft YaHei"/>
              </a:rPr>
              <a:t>残差 ε = 真实销量 − 预测分，按正态分布统计 ±2σ 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5120640" cy="237744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4572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Microsoft YaHei"/>
              </a:rPr>
              <a:t>ε &gt; μ + 2σ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3172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Microsoft YaHei"/>
              </a:rPr>
              <a:t>超预期款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45720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卖得比 AI 预测好很多
复盘不可预知因素：KOL 带火 / 热搜同款 / 竞品缺货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28800"/>
            <a:ext cx="5120640" cy="237744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828800"/>
            <a:ext cx="5120640" cy="7315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965960"/>
            <a:ext cx="45720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Microsoft YaHei"/>
              </a:rPr>
              <a:t>ε &lt; μ − 2σ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33172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EF4444"/>
                </a:solidFill>
                <a:latin typeface="Microsoft YaHei"/>
              </a:rPr>
              <a:t>不及预期款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834640"/>
            <a:ext cx="45720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卖得比 AI 预测差很多
复盘外生负面因素：质量事故 / 差评扩散 / 竞品大促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残差 × 营销标签（实际投放）→ 资源错配归因四象限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120640"/>
            <a:ext cx="2468880" cy="146304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512064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521208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Microsoft YaHei"/>
              </a:rPr>
              <a:t>推对了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577840"/>
            <a:ext cx="2194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Microsoft YaHei"/>
              </a:rPr>
              <a:t>投放了 + 超预期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852160"/>
            <a:ext cx="219456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投放放大了款式潜力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5120640"/>
            <a:ext cx="2468880" cy="146304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86200" y="5120640"/>
            <a:ext cx="246888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521208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YaHei"/>
              </a:rPr>
              <a:t>漏网爆款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5577840"/>
            <a:ext cx="2194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Microsoft YaHei"/>
              </a:rPr>
              <a:t>没推 + 超预期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5852160"/>
            <a:ext cx="219456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本季最大机会损失！下季应提前识别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5120640"/>
            <a:ext cx="2468880" cy="146304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5120640"/>
            <a:ext cx="2468880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521208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Microsoft YaHei"/>
              </a:rPr>
              <a:t>资源错配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577840"/>
            <a:ext cx="2194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Microsoft YaHei"/>
              </a:rPr>
              <a:t>投放了 + 不及预期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5852160"/>
            <a:ext cx="219456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投放资源浪费在弱款上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64039" y="5120640"/>
            <a:ext cx="2468880" cy="146304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64039" y="5120640"/>
            <a:ext cx="2468880" cy="54864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199" y="5212080"/>
            <a:ext cx="21945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9CA3AF"/>
                </a:solidFill>
                <a:latin typeface="Microsoft YaHei"/>
              </a:rPr>
              <a:t>款式本身弱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199" y="5577840"/>
            <a:ext cx="21945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Microsoft YaHei"/>
              </a:rPr>
              <a:t>没推 + 不及预期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199" y="5852160"/>
            <a:ext cx="219456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Microsoft YaHei"/>
              </a:rPr>
              <a:t>残差主要由款式质量解释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6629400"/>
            <a:ext cx="10058400" cy="1828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6647688"/>
            <a:ext cx="9875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🚫 残差款绝对不能喂回 3Loop 校准 — 会学到伪相关（KOL 碰巧穿了某颜色 ≠ 该颜色本身好卖）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9728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3B82F6"/>
                </a:solidFill>
                <a:latin typeface="Microsoft YaHei"/>
              </a:rPr>
              <a:t>Part 06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Microsoft YaHei"/>
              </a:rPr>
              <a:t>产品形态</a:t>
            </a:r>
          </a:p>
          <a:p>
            <a:pPr algn="l">
              <a:spcBef>
                <a:spcPts val="2000"/>
              </a:spcBef>
              <a:spcAft>
                <a:spcPts val="0"/>
              </a:spcAft>
            </a:pPr>
            <a:r>
              <a:rPr sz="2200" b="0">
                <a:solidFill>
                  <a:srgbClr val="E5E7EB"/>
                </a:solidFill>
                <a:latin typeface="Microsoft YaHei"/>
              </a:rPr>
              <a:t>Web UI 四页闭环 · 一键启动 · 本地运行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754880"/>
            <a:ext cx="1828800" cy="54864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Web UI 四页闭环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Microsoft YaHei"/>
              </a:rPr>
              <a:t>从上传到校准，一个浏览器搞定全流程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5120640" cy="22860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Microsoft YaHei"/>
              </a:rPr>
              <a:t>📤 上传批次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475488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选品牌适配包
传 Excel（款式+FAB+售价）
传图片文件夹
自动校验 → 开始评估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749040"/>
            <a:ext cx="1188720" cy="2743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767328"/>
            <a:ext cx="11887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Microsoft YaHei"/>
              </a:rPr>
              <a:t>Excel + 图片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828800"/>
            <a:ext cx="5120640" cy="22860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828800"/>
            <a:ext cx="5120640" cy="73152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96596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00BFA5"/>
                </a:solidFill>
                <a:latin typeface="Microsoft YaHei"/>
              </a:rPr>
              <a:t>📋 批次总表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468880"/>
            <a:ext cx="475488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S/A+/A/P 饼图
每款一行：分级/综合分/自然分/直播分
筛选 + 排序 + 导出 Excel
打包下载 Markdown 报告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3749040"/>
            <a:ext cx="1188720" cy="274320"/>
          </a:xfrm>
          <a:prstGeom prst="round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767328"/>
            <a:ext cx="11887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Microsoft YaHei"/>
              </a:rPr>
              <a:t>总览 + 导出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297680"/>
            <a:ext cx="5120640" cy="22860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4297680"/>
            <a:ext cx="5120640" cy="7315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43484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FF8C42"/>
                </a:solidFill>
                <a:latin typeface="Microsoft YaHei"/>
              </a:rPr>
              <a:t>🔍 单款详情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937760"/>
            <a:ext cx="475488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左：图片轮播（正面/背面/look/细节）
右：改款建议 + 三大引擎贡献
10 特征 BARS 雷达图
人设投票分布 + 双渠道明细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6217920"/>
            <a:ext cx="1188720" cy="27432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6236208"/>
            <a:ext cx="11887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Microsoft YaHei"/>
              </a:rPr>
              <a:t>深挖 + 建议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297680"/>
            <a:ext cx="5120640" cy="228600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0" y="429768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434840"/>
            <a:ext cx="4572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Microsoft YaHei"/>
              </a:rPr>
              <a:t>📊 回测校准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937760"/>
            <a:ext cx="475488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喂真实销量 Excel
点「运行 3Loop 校准」
Loop 前后 Spearman 对比
残差超预期/不及预期列表
校准通过 → 权重写入 calibrated/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6217920"/>
            <a:ext cx="1188720" cy="2743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6236208"/>
            <a:ext cx="11887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b="1">
                <a:solidFill>
                  <a:srgbClr val="1A1F36"/>
                </a:solidFill>
                <a:latin typeface="Microsoft YaHei"/>
              </a:rPr>
              <a:t>校准 + 迭代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总结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103120"/>
            <a:ext cx="3383280" cy="256032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10312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331720"/>
            <a:ext cx="914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2563EB"/>
                </a:solidFill>
                <a:latin typeface="Microsoft YaHe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92608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选款不再是「拍脑袋」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429000"/>
            <a:ext cx="301752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30 个品牌典型消费者在投票，每个决策都有可追溯的理由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103120"/>
            <a:ext cx="3383280" cy="256032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2103120"/>
            <a:ext cx="3383280" cy="73152"/>
          </a:xfrm>
          <a:prstGeom prst="rect">
            <a:avLst/>
          </a:prstGeom>
          <a:solidFill>
            <a:srgbClr val="00B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331720"/>
            <a:ext cx="914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00BFA5"/>
                </a:solidFill>
                <a:latin typeface="Microsoft Ya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92608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品牌知识可沉淀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3429000"/>
            <a:ext cx="301752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5 个 YAML 承载品牌全部领域知识，换设计师经验不丢失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103120"/>
            <a:ext cx="3383280" cy="2560320"/>
          </a:xfrm>
          <a:prstGeom prst="roundRect">
            <a:avLst/>
          </a:prstGeom>
          <a:solidFill>
            <a:srgbClr val="22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2103120"/>
            <a:ext cx="3383280" cy="73152"/>
          </a:xfrm>
          <a:prstGeom prst="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2331720"/>
            <a:ext cx="914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1">
                <a:solidFill>
                  <a:srgbClr val="FF8C42"/>
                </a:solidFill>
                <a:latin typeface="Microsoft YaHe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926080"/>
            <a:ext cx="3017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越用越准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429000"/>
            <a:ext cx="301752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Microsoft YaHei"/>
              </a:rPr>
              <a:t>每季销售数据喂回去，3Loop 自动校准，Spearman 单调递增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5029200"/>
            <a:ext cx="10058400" cy="27432"/>
          </a:xfrm>
          <a:prstGeom prst="rect">
            <a:avLst/>
          </a:prstGeom>
          <a:solidFill>
            <a:srgbClr val="3A4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303520"/>
            <a:ext cx="100584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4800" b="1">
                <a:solidFill>
                  <a:srgbClr val="00BFA5"/>
                </a:solidFill>
                <a:latin typeface="Microsoft YaHei"/>
              </a:rPr>
              <a:t>Q &amp;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217920"/>
            <a:ext cx="100584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CA3AF"/>
                </a:solidFill>
                <a:latin typeface="Microsoft YaHei"/>
              </a:rPr>
              <a:t>fashion-hit-engine · 服装爆款预测通用引擎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Microsoft YaHei"/>
              </a:rPr>
              <a:t>MIPO 蜜扑童装户外品牌示例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